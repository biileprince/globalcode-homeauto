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4777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19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GLOBALCODE  //  CAPSTONE PROJECT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2148840"/>
            <a:ext cx="7863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 Smart Home</a:t>
            </a:r>
            <a:endParaRPr lang="en-US" sz="5200" dirty="0"/>
          </a:p>
          <a:p>
            <a:pPr marL="0" indent="0">
              <a:lnSpc>
                <a:spcPct val="103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 System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404164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E19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Appliance Control &amp; Safety Monitoring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Raspberry Pi  ·  Flask  ·  IoT Push Notifications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5806440"/>
            <a:ext cx="2926080" cy="0"/>
          </a:xfrm>
          <a:prstGeom prst="line">
            <a:avLst/>
          </a:prstGeom>
          <a:noFill/>
          <a:ln w="12700">
            <a:solidFill>
              <a:srgbClr val="1E30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59436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869680" y="2286000"/>
            <a:ext cx="2468880" cy="1036930"/>
          </a:xfrm>
          <a:prstGeom prst="triangle">
            <a:avLst/>
          </a:prstGeom>
          <a:solidFill>
            <a:srgbClr val="1E304C"/>
          </a:solidFill>
          <a:ln w="19050">
            <a:solidFill>
              <a:srgbClr val="E196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17813" y="3304642"/>
            <a:ext cx="2172614" cy="1530706"/>
          </a:xfrm>
          <a:prstGeom prst="rect">
            <a:avLst/>
          </a:prstGeom>
          <a:solidFill>
            <a:srgbClr val="1E304C"/>
          </a:solidFill>
          <a:ln w="19050">
            <a:solidFill>
              <a:srgbClr val="E196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07854" y="4112971"/>
            <a:ext cx="592531" cy="740664"/>
          </a:xfrm>
          <a:prstGeom prst="rect">
            <a:avLst/>
          </a:prstGeom>
          <a:solidFill>
            <a:srgbClr val="E1963A"/>
          </a:solidFill>
          <a:ln/>
        </p:spPr>
      </p:sp>
      <p:sp>
        <p:nvSpPr>
          <p:cNvPr id="12" name="Shape 10"/>
          <p:cNvSpPr/>
          <p:nvPr/>
        </p:nvSpPr>
        <p:spPr>
          <a:xfrm>
            <a:off x="10499141" y="3569818"/>
            <a:ext cx="395021" cy="395021"/>
          </a:xfrm>
          <a:prstGeom prst="ellipse">
            <a:avLst/>
          </a:prstGeom>
          <a:solidFill>
            <a:srgbClr val="E1963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5B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we're headed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19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25880" y="179222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395728"/>
            <a:ext cx="5394960" cy="0"/>
          </a:xfrm>
          <a:prstGeom prst="line">
            <a:avLst/>
          </a:prstGeom>
          <a:noFill/>
          <a:ln w="9525">
            <a:solidFill>
              <a:srgbClr val="D7DD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523744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19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25880" y="25786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182112"/>
            <a:ext cx="5394960" cy="0"/>
          </a:xfrm>
          <a:prstGeom prst="line">
            <a:avLst/>
          </a:prstGeom>
          <a:noFill/>
          <a:ln w="9525">
            <a:solidFill>
              <a:srgbClr val="D7DD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3101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19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25880" y="336499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968496"/>
            <a:ext cx="5394960" cy="0"/>
          </a:xfrm>
          <a:prstGeom prst="line">
            <a:avLst/>
          </a:prstGeom>
          <a:noFill/>
          <a:ln w="9525">
            <a:solidFill>
              <a:srgbClr val="D7DD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096512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19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25880" y="415137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Components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754880"/>
            <a:ext cx="5394960" cy="0"/>
          </a:xfrm>
          <a:prstGeom prst="line">
            <a:avLst/>
          </a:prstGeom>
          <a:noFill/>
          <a:ln w="9525">
            <a:solidFill>
              <a:srgbClr val="D7DD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882896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19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325880" y="4910605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&amp; Web Interface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0" y="173736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19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178040" y="179222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System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0" y="2395728"/>
            <a:ext cx="5394960" cy="0"/>
          </a:xfrm>
          <a:prstGeom prst="line">
            <a:avLst/>
          </a:prstGeom>
          <a:noFill/>
          <a:ln w="9525">
            <a:solidFill>
              <a:srgbClr val="D7DD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2523744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19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178040" y="25786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Notifications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00800" y="3182112"/>
            <a:ext cx="5394960" cy="0"/>
          </a:xfrm>
          <a:prstGeom prst="line">
            <a:avLst/>
          </a:prstGeom>
          <a:noFill/>
          <a:ln w="9525">
            <a:solidFill>
              <a:srgbClr val="D7DD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33101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19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178040" y="336499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00800" y="3968496"/>
            <a:ext cx="5394960" cy="0"/>
          </a:xfrm>
          <a:prstGeom prst="line">
            <a:avLst/>
          </a:prstGeom>
          <a:noFill/>
          <a:ln w="9525">
            <a:solidFill>
              <a:srgbClr val="D7DD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4096512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19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7178040" y="415137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&amp; Future Work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00800" y="4754880"/>
            <a:ext cx="5394960" cy="0"/>
          </a:xfrm>
          <a:prstGeom prst="line">
            <a:avLst/>
          </a:prstGeom>
          <a:noFill/>
          <a:ln w="9525">
            <a:solidFill>
              <a:srgbClr val="D7DD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4882896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19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7178040" y="49377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12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 Home Automation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C5B78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Why this project exists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6233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The Problem</a:t>
            </a: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B6B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Traditional homes lack intelligent monitoring and control.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3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Manual.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245059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B6B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Lights, fans, and appliances require physical interaction to operate.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3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Disconnected.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336499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B6B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There's no remote access , you must be home to control anything.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3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Blind.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427939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B6B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Fire and gas leaks go undetected until it's already too late.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48640" y="4846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3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Silent.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48640" y="519379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B6B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Homeowners get no instant alert when a hazard occurs while away.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720840" y="2103120"/>
            <a:ext cx="4892040" cy="3291840"/>
          </a:xfrm>
          <a:prstGeom prst="roundRect">
            <a:avLst>
              <a:gd name="adj" fmla="val 1389"/>
            </a:avLst>
          </a:prstGeom>
          <a:solidFill>
            <a:srgbClr val="EAF1F5"/>
          </a:solidFill>
          <a:ln/>
        </p:spPr>
      </p:sp>
      <p:sp>
        <p:nvSpPr>
          <p:cNvPr id="14" name="Text 12"/>
          <p:cNvSpPr/>
          <p:nvPr/>
        </p:nvSpPr>
        <p:spPr>
          <a:xfrm>
            <a:off x="6903720" y="2121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1963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“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251192" y="2267712"/>
            <a:ext cx="4023360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6233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How can we make homes smarter, safer, and more responsive using affordable technology?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2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03 / 12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2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IoT Home Automation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5B78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What we built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6233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Our Solution</a:t>
            </a: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B6B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complete IoT smart-home system built around six core capabilities: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209544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7DD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945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50" dirty="0">
                <a:solidFill>
                  <a:srgbClr val="1C5B78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CONTROL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2523744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233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Remote Appliance Control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2907792"/>
            <a:ext cx="2843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Toggle lights, fan, and sound system from any device on the network.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032504" y="2011680"/>
            <a:ext cx="3209544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7DD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15384" y="21945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50" dirty="0">
                <a:solidFill>
                  <a:srgbClr val="1C5B78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FIRE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215384" y="2523744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233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Flame Detection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215384" y="2907792"/>
            <a:ext cx="2843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IR flame sensor triggers an instant alarm the moment fire is detected.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516368" y="2011680"/>
            <a:ext cx="3209544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7DD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99248" y="21945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50" dirty="0">
                <a:solidFill>
                  <a:srgbClr val="1C5B78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GAS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699248" y="2523744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233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Gas Detection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699248" y="2907792"/>
            <a:ext cx="2843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MQ-series gas sensor watches continuously for hazardous leaks.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3209544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7DD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1605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B978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ALARM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31520" y="4489704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233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Automatic Alarm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31520" y="4873752"/>
            <a:ext cx="2843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5B6B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sound </a:t>
            </a:r>
            <a:r>
              <a:rPr lang="en-US" sz="1600" dirty="0" err="1">
                <a:solidFill>
                  <a:srgbClr val="5B6B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sysconfirmedtem</a:t>
            </a:r>
            <a:r>
              <a:rPr lang="en-US" sz="1600" dirty="0">
                <a:solidFill>
                  <a:srgbClr val="5B6B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activates on its own the moment danger is.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032504" y="3977640"/>
            <a:ext cx="3209544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7DD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15384" y="41605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B978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ALERT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215384" y="4489704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233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IoT Push Notifications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215384" y="4873752"/>
            <a:ext cx="2843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Real-time alerts land on your phone via ntfy.sh, wherever you are.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516368" y="3977640"/>
            <a:ext cx="3209544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7DD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99248" y="41605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B978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UI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699248" y="4489704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233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Web Dashboard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699248" y="4873752"/>
            <a:ext cx="2843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responsive, animated control panel reachable from any browser.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2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04 / 12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2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IoT Home Automation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5B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all connects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259836" y="1417320"/>
            <a:ext cx="5669280" cy="502920"/>
          </a:xfrm>
          <a:prstGeom prst="roundRect">
            <a:avLst>
              <a:gd name="adj" fmla="val 9091"/>
            </a:avLst>
          </a:prstGeom>
          <a:solidFill>
            <a:srgbClr val="16233A"/>
          </a:solidFill>
          <a:ln w="15875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332988" y="1417320"/>
            <a:ext cx="5522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Browser — Home Control Dashboard (any device, local network)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94476" y="1920240"/>
            <a:ext cx="0" cy="292608"/>
          </a:xfrm>
          <a:prstGeom prst="line">
            <a:avLst/>
          </a:prstGeom>
          <a:noFill/>
          <a:ln w="15875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31636" y="19385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5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 </a:t>
            </a:r>
            <a:r>
              <a:rPr lang="en-US" sz="1400" b="1" dirty="0">
                <a:solidFill>
                  <a:srgbClr val="1C5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 REST API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74036" y="2212848"/>
            <a:ext cx="7040880" cy="1783080"/>
          </a:xfrm>
          <a:prstGeom prst="roundRect">
            <a:avLst>
              <a:gd name="adj" fmla="val 2564"/>
            </a:avLst>
          </a:prstGeom>
          <a:solidFill>
            <a:srgbClr val="EAF1F5"/>
          </a:solidFill>
          <a:ln w="15875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11196" y="23042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C5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RASPBERRY PI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848356" y="2615184"/>
            <a:ext cx="649224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5875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1508" y="2615184"/>
            <a:ext cx="6345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Web Server  —  app.py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848356" y="3291840"/>
            <a:ext cx="649224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5875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1508" y="3291840"/>
            <a:ext cx="6345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Layer  —  hardware.py  (gpiozero + threading)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94476" y="3995928"/>
            <a:ext cx="0" cy="320040"/>
          </a:xfrm>
          <a:prstGeom prst="line">
            <a:avLst/>
          </a:prstGeom>
          <a:noFill/>
          <a:ln w="15875">
            <a:solidFill>
              <a:srgbClr val="2E8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31636" y="40279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5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 GPIO PINS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574036" y="4315968"/>
            <a:ext cx="219456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7DDE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683764" y="4352544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Light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683764" y="4581144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5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GPIO 17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997196" y="4315968"/>
            <a:ext cx="219456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7DD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06924" y="4352544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 Light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106924" y="4581144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5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GPIO 27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420356" y="4315968"/>
            <a:ext cx="219456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7DD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30084" y="4352544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System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530084" y="4581144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5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GPIO 22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574036" y="4974336"/>
            <a:ext cx="219456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7DD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83764" y="5010912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(DC Motor)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683764" y="5239512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5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GPIO 12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997196" y="4974336"/>
            <a:ext cx="219456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7DD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06924" y="5010912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Flame Sensor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106924" y="5239512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5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GPIO 23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420356" y="4974336"/>
            <a:ext cx="219456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7DD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30084" y="5010912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Sensor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530084" y="5239512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5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GPIO 24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094476" y="5504688"/>
            <a:ext cx="0" cy="292608"/>
          </a:xfrm>
          <a:prstGeom prst="line">
            <a:avLst/>
          </a:prstGeom>
          <a:noFill/>
          <a:ln w="15875">
            <a:solidFill>
              <a:srgbClr val="2E86A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31636" y="552297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5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 ON ALARM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991356" y="5797296"/>
            <a:ext cx="4206240" cy="475488"/>
          </a:xfrm>
          <a:prstGeom prst="roundRect">
            <a:avLst>
              <a:gd name="adj" fmla="val 9615"/>
            </a:avLst>
          </a:prstGeom>
          <a:solidFill>
            <a:srgbClr val="E1963A"/>
          </a:solidFill>
          <a:ln w="15875">
            <a:solidFill>
              <a:srgbClr val="2E86A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64508" y="5797296"/>
            <a:ext cx="4059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ntfy.sh  —  Push Notification to Phone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12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 Home Automation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5B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physical layer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Components</a:t>
            </a:r>
            <a:endParaRPr lang="en-US" sz="3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9674805"/>
              </p:ext>
            </p:extLst>
          </p:nvPr>
        </p:nvGraphicFramePr>
        <p:xfrm>
          <a:off x="548640" y="1463040"/>
          <a:ext cx="6273483" cy="3590544"/>
        </p:xfrm>
        <a:graphic>
          <a:graphicData uri="http://schemas.openxmlformats.org/drawingml/2006/table">
            <a:tbl>
              <a:tblPr/>
              <a:tblGrid>
                <a:gridCol w="17014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Pin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Raspberry Pi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 processing unit &amp; web server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623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 LED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 Light indicator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623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GPIO 17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 LED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 Light indicator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623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GPIO 27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Buzzer / Relay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Sound System (alarm output)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623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GPIO 22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Yellow LED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Comes on when the alarm triggers 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623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GPIO 12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 Flame Sensor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 detection (digital output)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623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GPIO 23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 Gas Sensor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 leak detection (digital output)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623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GPIO 24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Breadboard &amp; Jumpers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Circuit prototyping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623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193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C5B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Wiring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5468112"/>
            <a:ext cx="6537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 </a:t>
            </a:r>
            <a:r>
              <a:rPr lang="en-US" sz="16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(LEDs, motor, buzzer) — Pi GPIO drives the component directly.
</a:t>
            </a: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 </a:t>
            </a:r>
            <a:r>
              <a:rPr lang="en-US" sz="16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(flame, gas) — sensor's digital-out pin feeds back into Pi GPIO.
</a:t>
            </a: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 </a:t>
            </a:r>
            <a:r>
              <a:rPr lang="en-US" sz="16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all sensors run from the Pi's 3.3V or 5V rail.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12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 Home Automation</a:t>
            </a:r>
            <a:endParaRPr lang="en-US" sz="9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19848B3-1975-036F-ADAF-CBC2ECA0A7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8218" y="1463041"/>
            <a:ext cx="4425142" cy="43697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5B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code and the dashboard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&amp; Web Interface</a:t>
            </a:r>
            <a:endParaRPr lang="en-US" sz="3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027043"/>
              </p:ext>
            </p:extLst>
          </p:nvPr>
        </p:nvGraphicFramePr>
        <p:xfrm>
          <a:off x="548640" y="1463039"/>
          <a:ext cx="5907578" cy="4233673"/>
        </p:xfrm>
        <a:graphic>
          <a:graphicData uri="http://schemas.openxmlformats.org/drawingml/2006/table">
            <a:tbl>
              <a:tblPr/>
              <a:tblGrid>
                <a:gridCol w="1404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55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7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33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33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 + Flask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server &amp; REST API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33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gpiozero + RPi.GPIO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pin management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33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HTML5 + CSS3 + JS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Responsive web dashboard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33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ntfy.sh (HTTP POST)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notifications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713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Concurrency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threading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Background sensor polling (100ms)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12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 Home Automation</a:t>
            </a:r>
            <a:endParaRPr lang="en-US" sz="9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555A34D-5D0C-51C8-F658-2F69B6034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9130" y="1463038"/>
            <a:ext cx="3968302" cy="423367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5B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Flame &amp; gas detection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Detection System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Dual-sensor monitoring: </a:t>
            </a: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background thread polls both sensors every </a:t>
            </a:r>
            <a:r>
              <a:rPr lang="en-US" sz="1350" b="1" dirty="0">
                <a:solidFill>
                  <a:srgbClr val="C64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100ms</a:t>
            </a: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instant response.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6758909"/>
              </p:ext>
            </p:extLst>
          </p:nvPr>
        </p:nvGraphicFramePr>
        <p:xfrm>
          <a:off x="548640" y="1920240"/>
          <a:ext cx="10177272" cy="1261872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9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 Method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 Condition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 Flame Sensor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RPi.GPIO digital read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623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GPIO.input(23) == GPIO.LOW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 Gas Sensor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gpiozero InputDevice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623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is_active == True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386889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C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an alarm triggers, the system automatically: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3949927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19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188720" y="3991498"/>
            <a:ext cx="16984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Sounds the alarm</a:t>
            </a:r>
            <a:endParaRPr lang="en-US" sz="1600" dirty="0"/>
          </a:p>
        </p:txBody>
      </p:sp>
      <p:sp>
        <p:nvSpPr>
          <p:cNvPr id="5" name="Text 6"/>
          <p:cNvSpPr/>
          <p:nvPr/>
        </p:nvSpPr>
        <p:spPr>
          <a:xfrm>
            <a:off x="1188720" y="4339532"/>
            <a:ext cx="16984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sound system (buzzer) activates immediately.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161538" y="3949937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19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3801618" y="3991504"/>
            <a:ext cx="16984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the dashboard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801618" y="4311823"/>
            <a:ext cx="16984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flashing red banner covers the web UI.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774436" y="3880665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19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6414516" y="3936085"/>
            <a:ext cx="16984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Notifies your phone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14516" y="4270255"/>
            <a:ext cx="16984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push alert is sent instantly via ntfy.sh.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387334" y="3880665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19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9027414" y="3922229"/>
            <a:ext cx="16984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the threat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027414" y="4270253"/>
            <a:ext cx="16984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“FLAME DETECTED” vs “GAS DETECTED” shown clearly.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48640" y="5120640"/>
            <a:ext cx="10177272" cy="1051560"/>
          </a:xfrm>
          <a:prstGeom prst="roundRect">
            <a:avLst>
              <a:gd name="adj" fmla="val 4348"/>
            </a:avLst>
          </a:prstGeom>
          <a:solidFill>
            <a:srgbClr val="EAF1F5"/>
          </a:solidFill>
          <a:ln/>
        </p:spPr>
      </p:sp>
      <p:sp>
        <p:nvSpPr>
          <p:cNvPr id="20" name="Text 17"/>
          <p:cNvSpPr/>
          <p:nvPr/>
        </p:nvSpPr>
        <p:spPr>
          <a:xfrm>
            <a:off x="731520" y="51389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19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4000" dirty="0"/>
          </a:p>
        </p:txBody>
      </p:sp>
      <p:sp>
        <p:nvSpPr>
          <p:cNvPr id="21" name="Text 18"/>
          <p:cNvSpPr/>
          <p:nvPr/>
        </p:nvSpPr>
        <p:spPr>
          <a:xfrm>
            <a:off x="1078992" y="5285232"/>
            <a:ext cx="930859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web alarm shows a red pulsing overlay with a clickable banner — dismissing it also turns off the sound system.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12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 Home Automation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5B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Alerts on your phone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 Push Notifications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</a:t>
            </a:r>
            <a:r>
              <a:rPr lang="en-US" sz="1600" b="1" dirty="0">
                <a:solidFill>
                  <a:srgbClr val="1C5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ntfy.sh</a:t>
            </a:r>
            <a:r>
              <a:rPr lang="en-US" sz="16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free, open-source push service. No app development required; alerts land on Android, iOS, or desktop over plain HTTP.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50976" y="2377440"/>
            <a:ext cx="2194560" cy="822960"/>
          </a:xfrm>
          <a:prstGeom prst="roundRect">
            <a:avLst>
              <a:gd name="adj" fmla="val 5556"/>
            </a:avLst>
          </a:prstGeom>
          <a:solidFill>
            <a:srgbClr val="16233A"/>
          </a:solidFill>
          <a:ln w="15875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2377440"/>
            <a:ext cx="20482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145536" y="2633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48456" y="2377440"/>
            <a:ext cx="219456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5875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21608" y="2377440"/>
            <a:ext cx="20482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POST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843016" y="2633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345936" y="2377440"/>
            <a:ext cx="219456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5875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9088" y="2377440"/>
            <a:ext cx="20482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ntfy.sh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40496" y="2633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043416" y="2377440"/>
            <a:ext cx="2194560" cy="822960"/>
          </a:xfrm>
          <a:prstGeom prst="roundRect">
            <a:avLst>
              <a:gd name="adj" fmla="val 5556"/>
            </a:avLst>
          </a:prstGeom>
          <a:solidFill>
            <a:srgbClr val="E1963A"/>
          </a:solidFill>
          <a:ln w="15875">
            <a:solidFill>
              <a:srgbClr val="2E8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16568" y="2377440"/>
            <a:ext cx="20482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767329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C5B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41148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1C5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URGENT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407408"/>
            <a:ext cx="49057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priority — bypasses Do Not Disturb on the phone.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820156" y="41148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50" dirty="0">
                <a:solidFill>
                  <a:srgbClr val="1C5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TAGGED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820156" y="4407408"/>
            <a:ext cx="49057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are categorized with fire / warning tags.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" y="52120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50" dirty="0">
                <a:solidFill>
                  <a:srgbClr val="1C5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UTF-8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" y="5504688"/>
            <a:ext cx="49057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body is UTF-8 encoded, so emoji render fine.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820156" y="52120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50" dirty="0">
                <a:solidFill>
                  <a:srgbClr val="1C5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TIMEOUT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820156" y="5504688"/>
            <a:ext cx="49057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5-second timeout — a dead network never blocks the system.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12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 Home Automation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5B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Seeing it work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35369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Demonstration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19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Appliance Control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633472"/>
            <a:ext cx="3209544" cy="0"/>
          </a:xfrm>
          <a:prstGeom prst="line">
            <a:avLst/>
          </a:prstGeom>
          <a:noFill/>
          <a:ln w="12700">
            <a:solidFill>
              <a:srgbClr val="D7DD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88920"/>
            <a:ext cx="320954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dashboard on a phone or laptop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Room Light — watch the LED respond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the Fan — watch the DC motor spin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the Sound System — hear the buzzer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032504" y="17373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19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032504" y="2194560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Demo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32504" y="2633472"/>
            <a:ext cx="3209544" cy="0"/>
          </a:xfrm>
          <a:prstGeom prst="line">
            <a:avLst/>
          </a:prstGeom>
          <a:noFill/>
          <a:ln w="12700">
            <a:solidFill>
              <a:srgbClr val="D7DD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32504" y="2788920"/>
            <a:ext cx="320954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the gas sensor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red alarm banner appear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push notification arriving on the phone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Dismiss the alarm from the web UI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516368" y="17373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19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516368" y="2194560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Multi-Device Sync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516368" y="2633472"/>
            <a:ext cx="3209544" cy="0"/>
          </a:xfrm>
          <a:prstGeom prst="line">
            <a:avLst/>
          </a:prstGeom>
          <a:noFill/>
          <a:ln w="12700">
            <a:solidFill>
              <a:srgbClr val="D7DD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16368" y="2788920"/>
            <a:ext cx="320954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6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dashboard on two devices at once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6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a device from one screen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6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it update live on the other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12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 Home Automation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5B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learned, what's next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749808" y="1609067"/>
            <a:ext cx="9994392" cy="0"/>
          </a:xfrm>
          <a:prstGeom prst="line">
            <a:avLst/>
          </a:prstGeom>
          <a:noFill/>
          <a:ln w="15875">
            <a:solidFill>
              <a:srgbClr val="2E86A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76656" y="1953767"/>
            <a:ext cx="146304" cy="146304"/>
          </a:xfrm>
          <a:prstGeom prst="ellipse">
            <a:avLst/>
          </a:prstGeom>
          <a:solidFill>
            <a:srgbClr val="E196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6780" y="2383258"/>
            <a:ext cx="3209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Short-term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41129" y="2931624"/>
            <a:ext cx="32095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integration</a:t>
            </a:r>
            <a:endParaRPr lang="en-US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/ humidity sensors</a:t>
            </a:r>
            <a:endParaRPr lang="en-US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logging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133088" y="2000736"/>
            <a:ext cx="146304" cy="146304"/>
          </a:xfrm>
          <a:prstGeom prst="ellipse">
            <a:avLst/>
          </a:prstGeom>
          <a:solidFill>
            <a:srgbClr val="E196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33088" y="2519034"/>
            <a:ext cx="3209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Medium-term</a:t>
            </a:r>
            <a:endParaRPr lang="en-US" sz="1500" dirty="0"/>
          </a:p>
        </p:txBody>
      </p:sp>
      <p:sp>
        <p:nvSpPr>
          <p:cNvPr id="4" name="Text 9"/>
          <p:cNvSpPr/>
          <p:nvPr/>
        </p:nvSpPr>
        <p:spPr>
          <a:xfrm>
            <a:off x="3836324" y="2921230"/>
            <a:ext cx="32095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control (Alexa / Google)</a:t>
            </a:r>
            <a:endParaRPr lang="en-US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</a:t>
            </a:r>
            <a:endParaRPr lang="en-US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internet access</a:t>
            </a: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7435457" y="2030385"/>
            <a:ext cx="146304" cy="146304"/>
          </a:xfrm>
          <a:prstGeom prst="ellipse">
            <a:avLst/>
          </a:prstGeom>
          <a:solidFill>
            <a:srgbClr val="E196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08609" y="2406605"/>
            <a:ext cx="3209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Long-term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342632" y="2956285"/>
            <a:ext cx="32095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</a:t>
            </a:r>
            <a:r>
              <a:rPr lang="en-US" dirty="0" err="1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learnign</a:t>
            </a:r>
            <a:r>
              <a:rPr lang="en-US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automation</a:t>
            </a:r>
            <a:endParaRPr lang="en-US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Multi-room support</a:t>
            </a:r>
            <a:endParaRPr lang="en-US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monitoring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12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 Home Automation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14400" cy="384048"/>
          </a:xfrm>
          <a:prstGeom prst="triangle">
            <a:avLst/>
          </a:prstGeom>
          <a:solidFill>
            <a:srgbClr val="1E304C"/>
          </a:solidFill>
          <a:ln w="19050">
            <a:solidFill>
              <a:srgbClr val="E196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868680"/>
            <a:ext cx="804672" cy="566928"/>
          </a:xfrm>
          <a:prstGeom prst="rect">
            <a:avLst/>
          </a:prstGeom>
          <a:solidFill>
            <a:srgbClr val="1E304C"/>
          </a:solidFill>
          <a:ln w="19050">
            <a:solidFill>
              <a:srgbClr val="E196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" y="1179576"/>
            <a:ext cx="219456" cy="274320"/>
          </a:xfrm>
          <a:prstGeom prst="rect">
            <a:avLst/>
          </a:prstGeom>
          <a:solidFill>
            <a:srgbClr val="E1963A"/>
          </a:solidFill>
          <a:ln/>
        </p:spPr>
      </p:sp>
      <p:sp>
        <p:nvSpPr>
          <p:cNvPr id="5" name="Shape 3"/>
          <p:cNvSpPr/>
          <p:nvPr/>
        </p:nvSpPr>
        <p:spPr>
          <a:xfrm>
            <a:off x="1152144" y="978408"/>
            <a:ext cx="146304" cy="146304"/>
          </a:xfrm>
          <a:prstGeom prst="ellipse">
            <a:avLst/>
          </a:prstGeom>
          <a:solidFill>
            <a:srgbClr val="E1963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2860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548640" y="4023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B0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Repository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315968"/>
            <a:ext cx="3668573" cy="329184"/>
          </a:xfrm>
          <a:prstGeom prst="roundRect">
            <a:avLst>
              <a:gd name="adj" fmla="val 16667"/>
            </a:avLst>
          </a:prstGeom>
          <a:solidFill>
            <a:srgbClr val="1E304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315968"/>
            <a:ext cx="366857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19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github.com/biileprince/globalcode-homeauto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4956048"/>
            <a:ext cx="4517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FB0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Used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53766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FC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 ·  Flask  ·  gpiozero  ·  RPi.GPIO  ·  HTML/CSS/JS  ·  ntfy.sh  ·  Raspberry Pi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FB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12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FB0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 Home Automation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1020</Words>
  <Application>Microsoft Office PowerPoint</Application>
  <PresentationFormat>Widescreen</PresentationFormat>
  <Paragraphs>256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Prince Biile</cp:lastModifiedBy>
  <cp:revision>2</cp:revision>
  <dcterms:created xsi:type="dcterms:W3CDTF">2026-08-12T08:02:13Z</dcterms:created>
  <dcterms:modified xsi:type="dcterms:W3CDTF">2026-08-12T11:25:05Z</dcterms:modified>
</cp:coreProperties>
</file>